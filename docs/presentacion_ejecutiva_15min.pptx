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Financial Sentiment Radar en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5A5A"/>
                </a:solidFill>
              </a:defRPr>
            </a:pPr>
            <a:r>
              <a:t>Producto de datos para medir sentimiento financiero en social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/>
            </a:pPr>
            <a:r>
              <a:t>Streamlit + ECS Fargate + ALB</a:t>
            </a:r>
          </a:p>
          <a:p>
            <a:pPr>
              <a:spcAft>
                <a:spcPts val="900"/>
              </a:spcAft>
              <a:defRPr sz="2200"/>
            </a:pPr>
            <a:r>
              <a:t>S3 como data lake</a:t>
            </a:r>
          </a:p>
          <a:p>
            <a:pPr>
              <a:spcAft>
                <a:spcPts val="900"/>
              </a:spcAft>
              <a:defRPr sz="2200"/>
            </a:pPr>
            <a:r>
              <a:t>Consultas con evidencia y Bedrock opcional</a:t>
            </a:r>
          </a:p>
          <a:p>
            <a:pPr>
              <a:spcAft>
                <a:spcPts val="900"/>
              </a:spcAft>
              <a:defRPr sz="2200"/>
            </a:pPr>
            <a:r>
              <a:t>MVP acotado para evaluación y demo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0" y="1828800"/>
            <a:ext cx="3931920" cy="2103120"/>
          </a:xfrm>
          <a:prstGeom prst="rect">
            <a:avLst/>
          </a:prstGeom>
          <a:solidFill>
            <a:srgbClr val="D9EA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Valor: de tweets ruidosos a señales consultables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Problema u oportunidad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Social media puede anticipar preocupaciones o entusiasmo del mercado.</a:t>
            </a:r>
          </a:p>
          <a:p>
            <a:pPr>
              <a:spcAft>
                <a:spcPts val="900"/>
              </a:spcAft>
              <a:defRPr sz="1900"/>
            </a:pPr>
            <a:r>
              <a:t>Leer tweets manualmente es lento y no deja trazabilidad.</a:t>
            </a:r>
          </a:p>
          <a:p>
            <a:pPr>
              <a:spcAft>
                <a:spcPts val="900"/>
              </a:spcAft>
              <a:defRPr sz="1900"/>
            </a:pPr>
            <a:r>
              <a:t>El usuario necesita saber: qué se dice, sobre quién, con qué tono y con qué evidencia.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46304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Oportunidad de producto:</a:t>
            </a:r>
          </a:p>
          <a:p>
            <a:pPr>
              <a:spcAft>
                <a:spcPts val="900"/>
              </a:spcAft>
              <a:defRPr sz="1900"/>
            </a:pPr>
            <a:r>
              <a:t>Convertir texto no estructurado en radar de sentimiento.</a:t>
            </a:r>
          </a:p>
          <a:p>
            <a:pPr>
              <a:spcAft>
                <a:spcPts val="900"/>
              </a:spcAft>
              <a:defRPr sz="1900"/>
            </a:pPr>
            <a:r>
              <a:t>Responder preguntas de negocio sin abrir notebooks.</a:t>
            </a:r>
          </a:p>
          <a:p>
            <a:pPr>
              <a:spcAft>
                <a:spcPts val="900"/>
              </a:spcAft>
              <a:defRPr sz="1900"/>
            </a:pPr>
            <a:r>
              <a:t>Guardar outputs en AWS para auditoría.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Usuario final y beneficio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Usuario: analista financiero, riesgo reputacional o relación con inversionistas.</a:t>
            </a:r>
          </a:p>
          <a:p>
            <a:pPr>
              <a:spcAft>
                <a:spcPts val="900"/>
              </a:spcAft>
              <a:defRPr sz="1900"/>
            </a:pPr>
            <a:r>
              <a:t>Beneficio: detectar señales de percepción en minutos, no horas.</a:t>
            </a:r>
          </a:p>
          <a:p>
            <a:pPr>
              <a:spcAft>
                <a:spcPts val="900"/>
              </a:spcAft>
              <a:defRPr sz="1900"/>
            </a:pPr>
            <a:r>
              <a:t>No entrega datos crudos: entrega métricas, evidencia y síntesis.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Preguntas que responde:</a:t>
            </a:r>
          </a:p>
          <a:p>
            <a:pPr>
              <a:spcAft>
                <a:spcPts val="900"/>
              </a:spcAft>
              <a:defRPr sz="1900"/>
            </a:pPr>
            <a:r>
              <a:t>¿Qué se dice de NVIDIA?</a:t>
            </a:r>
          </a:p>
          <a:p>
            <a:pPr>
              <a:spcAft>
                <a:spcPts val="900"/>
              </a:spcAft>
              <a:defRPr sz="1900"/>
            </a:pPr>
            <a:r>
              <a:t>¿Qué riesgos aparecen para Tesla?</a:t>
            </a:r>
          </a:p>
          <a:p>
            <a:pPr>
              <a:spcAft>
                <a:spcPts val="900"/>
              </a:spcAft>
              <a:defRPr sz="1900"/>
            </a:pPr>
            <a:r>
              <a:t>¿Hay tono negativo sobre BBVA?</a:t>
            </a:r>
          </a:p>
          <a:p>
            <a:pPr>
              <a:spcAft>
                <a:spcPts val="900"/>
              </a:spcAft>
              <a:defRPr sz="1900"/>
            </a:pPr>
            <a:r>
              <a:t>¿Qué temas concentran riesgo?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Datos utilizados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Dataset de demo incluido para que la app funcione sin credenciales.</a:t>
            </a:r>
          </a:p>
          <a:p>
            <a:pPr>
              <a:spcAft>
                <a:spcPts val="900"/>
              </a:spcAft>
              <a:defRPr sz="1900"/>
            </a:pPr>
            <a:r>
              <a:t>Upload CSV/Parquet con columna text.</a:t>
            </a:r>
          </a:p>
          <a:p>
            <a:pPr>
              <a:spcAft>
                <a:spcPts val="900"/>
              </a:spcAft>
              <a:defRPr sz="1900"/>
            </a:pPr>
            <a:r>
              <a:t>Twitter/X recent search opcional con bearer token.</a:t>
            </a:r>
          </a:p>
          <a:p>
            <a:pPr>
              <a:spcAft>
                <a:spcPts val="900"/>
              </a:spcAft>
              <a:defRPr sz="1900"/>
            </a:pPr>
            <a:r>
              <a:t>S3 guarda raw, processed y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Campos mínimos:</a:t>
            </a:r>
          </a:p>
          <a:p>
            <a:pPr>
              <a:spcAft>
                <a:spcPts val="900"/>
              </a:spcAft>
              <a:defRPr sz="1900"/>
            </a:pPr>
            <a:r>
              <a:t>text</a:t>
            </a:r>
          </a:p>
          <a:p>
            <a:pPr>
              <a:spcAft>
                <a:spcPts val="900"/>
              </a:spcAft>
              <a:defRPr sz="1900"/>
            </a:pPr>
            <a:r>
              <a:t>tweet_id opcional</a:t>
            </a:r>
          </a:p>
          <a:p>
            <a:pPr>
              <a:spcAft>
                <a:spcPts val="900"/>
              </a:spcAft>
              <a:defRPr sz="1900"/>
            </a:pPr>
            <a:r>
              <a:t>created_at opcional</a:t>
            </a:r>
          </a:p>
          <a:p>
            <a:pPr>
              <a:spcAft>
                <a:spcPts val="900"/>
              </a:spcAft>
              <a:defRPr sz="1900"/>
            </a:pPr>
            <a:r>
              <a:t>author/source opcionales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Inteligencia aplicada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Limpieza de URLs, menciones y whitespace.</a:t>
            </a:r>
          </a:p>
          <a:p>
            <a:pPr>
              <a:spcAft>
                <a:spcPts val="900"/>
              </a:spcAft>
              <a:defRPr sz="1900"/>
            </a:pPr>
            <a:r>
              <a:t>Extracción de tickers y aliases de compañías.</a:t>
            </a:r>
          </a:p>
          <a:p>
            <a:pPr>
              <a:spcAft>
                <a:spcPts val="900"/>
              </a:spcAft>
              <a:defRPr sz="1900"/>
            </a:pPr>
            <a:r>
              <a:t>Scoring financiero ligero e interpretable.</a:t>
            </a:r>
          </a:p>
          <a:p>
            <a:pPr>
              <a:spcAft>
                <a:spcPts val="900"/>
              </a:spcAft>
              <a:defRPr sz="1900"/>
            </a:pPr>
            <a:r>
              <a:t>Clasificación de temas por reglas de negocio.</a:t>
            </a:r>
          </a:p>
          <a:p>
            <a:pPr>
              <a:spcAft>
                <a:spcPts val="900"/>
              </a:spcAft>
              <a:defRPr sz="1900"/>
            </a:pPr>
            <a:r>
              <a:t>TF-IDF retrieval para consultas con evidencia.</a:t>
            </a:r>
          </a:p>
          <a:p>
            <a:pPr>
              <a:spcAft>
                <a:spcPts val="900"/>
              </a:spcAft>
              <a:defRPr sz="1900"/>
            </a:pPr>
            <a:r>
              <a:t>Bedrock opcional para resumen ejecutivo.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Decisión de diseño:</a:t>
            </a:r>
          </a:p>
          <a:p>
            <a:pPr>
              <a:spcAft>
                <a:spcPts val="900"/>
              </a:spcAft>
              <a:defRPr sz="1900"/>
            </a:pPr>
            <a:r>
              <a:t>Evitar modelos pesados para controlar costo y memoria.</a:t>
            </a:r>
          </a:p>
          <a:p>
            <a:pPr>
              <a:spcAft>
                <a:spcPts val="900"/>
              </a:spcAft>
              <a:defRPr sz="1900"/>
            </a:pPr>
            <a:r>
              <a:t>Mantener un MVP confiable y fácil de explicar.</a:t>
            </a:r>
          </a:p>
          <a:p>
            <a:pPr>
              <a:spcAft>
                <a:spcPts val="900"/>
              </a:spcAft>
              <a:defRPr sz="1900"/>
            </a:pPr>
            <a:r>
              <a:t>Dejar ruta clara para FinBERT/SageMaker en una iteración posterior.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Arquitectura AWS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1371600" cy="731520"/>
          </a:xfrm>
          <a:prstGeom prst="rect">
            <a:avLst/>
          </a:prstGeom>
          <a:solidFill>
            <a:srgbClr val="EC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94560"/>
            <a:ext cx="1371600" cy="731520"/>
          </a:xfrm>
          <a:prstGeom prst="rect">
            <a:avLst/>
          </a:prstGeom>
          <a:solidFill>
            <a:srgbClr val="EC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ALB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2011680"/>
            <a:ext cx="1828800" cy="1005840"/>
          </a:xfrm>
          <a:prstGeom prst="rect">
            <a:avLst/>
          </a:prstGeom>
          <a:solidFill>
            <a:srgbClr val="EC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ECS Fargate</a:t>
            </a:r>
            <a:br/>
            <a:r>
              <a:t>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371600"/>
            <a:ext cx="1828800" cy="822960"/>
          </a:xfrm>
          <a:prstGeom prst="rect">
            <a:avLst/>
          </a:prstGeom>
          <a:solidFill>
            <a:srgbClr val="EC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S3</a:t>
            </a:r>
            <a:br/>
            <a:r>
              <a:t>Data lake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743200"/>
            <a:ext cx="1828800" cy="822960"/>
          </a:xfrm>
          <a:prstGeom prst="rect">
            <a:avLst/>
          </a:prstGeom>
          <a:solidFill>
            <a:srgbClr val="EC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Bedrock</a:t>
            </a:r>
            <a:br/>
            <a:r>
              <a:t>opcional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4114800"/>
            <a:ext cx="1828800" cy="822960"/>
          </a:xfrm>
          <a:prstGeom prst="rect">
            <a:avLst/>
          </a:prstGeom>
          <a:solidFill>
            <a:srgbClr val="EC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CloudWatch</a:t>
            </a:r>
            <a:br/>
            <a:r>
              <a:t>Logs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822960"/>
            <a:ext cx="1828800" cy="731520"/>
          </a:xfrm>
          <a:prstGeom prst="rect">
            <a:avLst/>
          </a:prstGeom>
          <a:solidFill>
            <a:srgbClr val="EC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ECR</a:t>
            </a:r>
            <a:br/>
            <a:r>
              <a:t>Imagen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CloudFormation crea infraestructura reproducible.</a:t>
            </a:r>
          </a:p>
          <a:p>
            <a:pPr>
              <a:spcAft>
                <a:spcPts val="900"/>
              </a:spcAft>
              <a:defRPr sz="1600"/>
            </a:pPr>
            <a:r>
              <a:t>Sin NAT Gateway para bajar costo del MVP.</a:t>
            </a:r>
          </a:p>
          <a:p>
            <a:pPr>
              <a:spcAft>
                <a:spcPts val="900"/>
              </a:spcAft>
              <a:defRPr sz="1600"/>
            </a:pPr>
            <a:r>
              <a:t>IAM Roles limitan acceso a S3 y Bedrock.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Demo live de Streamlit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1. Abrir AppURL del ALB.</a:t>
            </a:r>
          </a:p>
          <a:p>
            <a:pPr>
              <a:spcAft>
                <a:spcPts val="900"/>
              </a:spcAft>
              <a:defRPr sz="1900"/>
            </a:pPr>
            <a:r>
              <a:t>2. Revisar Resumen: KPIs, ranking y tendencias.</a:t>
            </a:r>
          </a:p>
          <a:p>
            <a:pPr>
              <a:spcAft>
                <a:spcPts val="900"/>
              </a:spcAft>
              <a:defRPr sz="1900"/>
            </a:pPr>
            <a:r>
              <a:t>3. Preguntar: ¿Qué se dice de NVIDIA?</a:t>
            </a:r>
          </a:p>
          <a:p>
            <a:pPr>
              <a:spcAft>
                <a:spcPts val="900"/>
              </a:spcAft>
              <a:defRPr sz="1900"/>
            </a:pPr>
            <a:r>
              <a:t>4. Revisar evidencia recuperada.</a:t>
            </a:r>
          </a:p>
          <a:p>
            <a:pPr>
              <a:spcAft>
                <a:spcPts val="900"/>
              </a:spcAft>
              <a:defRPr sz="1900"/>
            </a:pPr>
            <a:r>
              <a:t>5. Ver Temas/Riesgo y descargar CSV procesado.</a:t>
            </a:r>
          </a:p>
          <a:p>
            <a:pPr>
              <a:spcAft>
                <a:spcPts val="900"/>
              </a:spcAft>
              <a:defRPr sz="1900"/>
            </a:pPr>
            <a:r>
              <a:t>6. Opcional: subir archivo o buscar live en 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Mensaje clave para demo:</a:t>
            </a:r>
          </a:p>
          <a:p>
            <a:pPr>
              <a:spcAft>
                <a:spcPts val="900"/>
              </a:spcAft>
              <a:defRPr sz="1900"/>
            </a:pPr>
            <a:r>
              <a:t>El usuario no ejecuta código.</a:t>
            </a:r>
          </a:p>
          <a:p>
            <a:pPr>
              <a:spcAft>
                <a:spcPts val="900"/>
              </a:spcAft>
              <a:defRPr sz="1900"/>
            </a:pPr>
            <a:r>
              <a:t>La señal tiene evidencia.</a:t>
            </a:r>
          </a:p>
          <a:p>
            <a:pPr>
              <a:spcAft>
                <a:spcPts val="900"/>
              </a:spcAft>
              <a:defRPr sz="1900"/>
            </a:pPr>
            <a:r>
              <a:t>Los outputs quedan trazables en S3 y CloudWatch.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Costo, seguridad y siguientes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Costo base estimado: ~USD 488-508/año 24/7.</a:t>
            </a:r>
          </a:p>
          <a:p>
            <a:pPr>
              <a:spcAft>
                <a:spcPts val="900"/>
              </a:spcAft>
              <a:defRPr sz="1900"/>
            </a:pPr>
            <a:r>
              <a:t>Se puede apagar ECS desired-count=0 para ahorrar.</a:t>
            </a:r>
          </a:p>
          <a:p>
            <a:pPr>
              <a:spcAft>
                <a:spcPts val="900"/>
              </a:spcAft>
              <a:defRPr sz="1900"/>
            </a:pPr>
            <a:r>
              <a:t>No se guardan credenciales en código.</a:t>
            </a:r>
          </a:p>
          <a:p>
            <a:pPr>
              <a:spcAft>
                <a:spcPts val="900"/>
              </a:spcAft>
              <a:defRPr sz="1900"/>
            </a:pPr>
            <a:r>
              <a:t>Bucket S3 cifrado y bloqueado al público.</a:t>
            </a:r>
          </a:p>
          <a:p>
            <a:pPr>
              <a:spcAft>
                <a:spcPts val="900"/>
              </a:spcAft>
              <a:defRPr sz="1900"/>
            </a:pPr>
            <a:r>
              <a:t>Logs con retención de 14 días.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Siguientes pasos:</a:t>
            </a:r>
          </a:p>
          <a:p>
            <a:pPr>
              <a:spcAft>
                <a:spcPts val="900"/>
              </a:spcAft>
              <a:defRPr sz="1900"/>
            </a:pPr>
            <a:r>
              <a:t>Cognito para autenticación.</a:t>
            </a:r>
          </a:p>
          <a:p>
            <a:pPr>
              <a:spcAft>
                <a:spcPts val="900"/>
              </a:spcAft>
              <a:defRPr sz="1900"/>
            </a:pPr>
            <a:r>
              <a:t>SageMaker/FinBERT o Bedrock classifier.</a:t>
            </a:r>
          </a:p>
          <a:p>
            <a:pPr>
              <a:spcAft>
                <a:spcPts val="900"/>
              </a:spcAft>
              <a:defRPr sz="1900"/>
            </a:pPr>
            <a:r>
              <a:t>EventBridge para ingesta programada.</a:t>
            </a:r>
          </a:p>
          <a:p>
            <a:pPr>
              <a:spcAft>
                <a:spcPts val="900"/>
              </a:spcAft>
              <a:defRPr sz="1900"/>
            </a:pPr>
            <a:r>
              <a:t>VPC endpoints y subnets privadas.</a:t>
            </a:r>
          </a:p>
          <a:p>
            <a:pPr>
              <a:spcAft>
                <a:spcPts val="900"/>
              </a:spcAft>
              <a:defRPr sz="1900"/>
            </a:pPr>
            <a:r>
              <a:t>Monitoreo de drift y calidad de datos.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